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35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years building the data behind operational decisions. Eight of those years inside the ad marketplace at Yahoo.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most analytics engineers have seen one side of the ad marketplace. I have modeled all three positions.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in the order they matter for this role.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version in the browser during the call rather than talking over the screenshot. Built in HTML and JavaScript rather than Plotly Dash, same idea: a custom analytical application, not a dashboard.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came from noticing a problem nobody had assigned 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numbers do the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in conversation.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what their biggest current data gap 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owagner2015.github.io/professionalprofile/split-orders.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in/willwwagne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wowagner2015.github.io/professionalprofile/" TargetMode="External"/><Relationship Id="rId4" Type="http://schemas.openxmlformats.org/officeDocument/2006/relationships/hyperlink" Target="https://github.com/wowagner20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822960" y="2331720"/>
            <a:ext cx="6583680" cy="6858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Will Wagner</a:t>
            </a:r>
            <a:endParaRPr lang="en-US" sz="4600" dirty="0"/>
          </a:p>
        </p:txBody>
      </p:sp>
      <p:sp>
        <p:nvSpPr>
          <p:cNvPr id="3" name="Text 1"/>
          <p:cNvSpPr/>
          <p:nvPr/>
        </p:nvSpPr>
        <p:spPr>
          <a:xfrm>
            <a:off x="822960" y="3108960"/>
            <a:ext cx="6583680" cy="457200"/>
          </a:xfrm>
          <a:prstGeom prst="rect">
            <a:avLst/>
          </a:prstGeom>
          <a:noFill/>
          <a:ln/>
        </p:spPr>
        <p:txBody>
          <a:bodyPr wrap="square" lIns="0" tIns="0" rIns="0" bIns="0" rtlCol="0" anchor="ctr"/>
          <a:lstStyle/>
          <a:p>
            <a:pPr marL="0" indent="0">
              <a:buNone/>
            </a:pPr>
            <a:r>
              <a:rPr lang="en-US" sz="2200" dirty="0">
                <a:solidFill>
                  <a:srgbClr val="E50914"/>
                </a:solidFill>
                <a:latin typeface="Calibri" pitchFamily="34" charset="0"/>
                <a:ea typeface="Calibri" pitchFamily="34" charset="-122"/>
                <a:cs typeface="Calibri" pitchFamily="34" charset="-120"/>
              </a:rPr>
              <a:t>Senior Analytics Engineer</a:t>
            </a:r>
            <a:endParaRPr lang="en-US" sz="2200" dirty="0"/>
          </a:p>
        </p:txBody>
      </p:sp>
      <p:sp>
        <p:nvSpPr>
          <p:cNvPr id="4" name="Text 2"/>
          <p:cNvSpPr/>
          <p:nvPr/>
        </p:nvSpPr>
        <p:spPr>
          <a:xfrm>
            <a:off x="822960" y="3794760"/>
            <a:ext cx="6035040" cy="822960"/>
          </a:xfrm>
          <a:prstGeom prst="rect">
            <a:avLst/>
          </a:prstGeom>
          <a:noFill/>
          <a:ln/>
        </p:spPr>
        <p:txBody>
          <a:bodyPr wrap="square" lIns="0" tIns="0" rIns="0" bIns="0" rtlCol="0" anchor="ctr"/>
          <a:lstStyle/>
          <a:p>
            <a:pPr marL="0" indent="0">
              <a:lnSpc>
                <a:spcPts val="2200"/>
              </a:lnSpc>
              <a:buNone/>
            </a:pPr>
            <a:r>
              <a:rPr lang="en-US" sz="1500" dirty="0">
                <a:solidFill>
                  <a:srgbClr val="9AA0AC"/>
                </a:solidFill>
                <a:latin typeface="Calibri" pitchFamily="34" charset="0"/>
                <a:ea typeface="Calibri" pitchFamily="34" charset="-122"/>
                <a:cs typeface="Calibri" pitchFamily="34" charset="-120"/>
              </a:rPr>
              <a:t>Closing the loop between what a campaign costs and what it earns</a:t>
            </a:r>
            <a:endParaRPr lang="en-US" sz="1500" dirty="0"/>
          </a:p>
        </p:txBody>
      </p:sp>
      <p:sp>
        <p:nvSpPr>
          <p:cNvPr id="5" name="Text 3"/>
          <p:cNvSpPr/>
          <p:nvPr/>
        </p:nvSpPr>
        <p:spPr>
          <a:xfrm>
            <a:off x="822960" y="5029200"/>
            <a:ext cx="6583680" cy="320040"/>
          </a:xfrm>
          <a:prstGeom prst="rect">
            <a:avLst/>
          </a:prstGeom>
          <a:noFill/>
          <a:ln/>
        </p:spPr>
        <p:txBody>
          <a:bodyPr wrap="square" lIns="0" tIns="0" rIns="0" bIns="0" rtlCol="0" anchor="ctr"/>
          <a:lstStyle/>
          <a:p>
            <a:pPr marL="0" indent="0">
              <a:buNone/>
            </a:pPr>
            <a:r>
              <a:rPr lang="en-US" sz="1100" kern="0" spc="100" dirty="0">
                <a:solidFill>
                  <a:srgbClr val="9AA0AC"/>
                </a:solidFill>
                <a:latin typeface="Calibri" pitchFamily="34" charset="0"/>
                <a:ea typeface="Calibri" pitchFamily="34" charset="-122"/>
                <a:cs typeface="Calibri" pitchFamily="34" charset="-120"/>
              </a:rPr>
              <a:t>SQL   ·   Python   ·   Snowflake   ·   BigQuery   ·   AWS   ·   Google Cloud</a:t>
            </a:r>
            <a:endParaRPr lang="en-US" sz="1100" dirty="0"/>
          </a:p>
        </p:txBody>
      </p:sp>
      <p:pic>
        <p:nvPicPr>
          <p:cNvPr id="6" name="Image 0" descr="/home/claude/hero_indexed.png"/>
          <p:cNvPicPr>
            <a:picLocks noChangeAspect="1"/>
          </p:cNvPicPr>
          <p:nvPr/>
        </p:nvPicPr>
        <p:blipFill>
          <a:blip r:embed="rId3"/>
          <a:stretch>
            <a:fillRect/>
          </a:stretch>
        </p:blipFill>
        <p:spPr>
          <a:xfrm>
            <a:off x="6720840" y="2331720"/>
            <a:ext cx="4937760" cy="1810512"/>
          </a:xfrm>
          <a:prstGeom prst="rect">
            <a:avLst/>
          </a:prstGeom>
          <a:effectLst>
            <a:outerShdw blurRad="228600" dist="38100" dir="5400000" algn="bl" rotWithShape="0">
              <a:srgbClr val="000000">
                <a:alpha val="55000"/>
              </a:srgbClr>
            </a:outerShdw>
          </a:effectLst>
        </p:spPr>
      </p:pic>
      <p:sp>
        <p:nvSpPr>
          <p:cNvPr id="7" name="Text 4"/>
          <p:cNvSpPr/>
          <p:nvPr/>
        </p:nvSpPr>
        <p:spPr>
          <a:xfrm>
            <a:off x="6720840" y="4251960"/>
            <a:ext cx="4937760" cy="365760"/>
          </a:xfrm>
          <a:prstGeom prst="rect">
            <a:avLst/>
          </a:prstGeom>
          <a:noFill/>
          <a:ln/>
        </p:spPr>
        <p:txBody>
          <a:bodyPr wrap="square" lIns="0" tIns="0" rIns="0" bIns="0" rtlCol="0" anchor="ctr"/>
          <a:lstStyle/>
          <a:p>
            <a:pPr marL="0" indent="0">
              <a:buNone/>
            </a:pPr>
            <a:r>
              <a:rPr lang="en-US" sz="1000" i="1" dirty="0">
                <a:solidFill>
                  <a:srgbClr val="9AA0AC"/>
                </a:solidFill>
                <a:latin typeface="Calibri" pitchFamily="34" charset="0"/>
                <a:ea typeface="Calibri" pitchFamily="34" charset="-122"/>
                <a:cs typeface="Calibri" pitchFamily="34" charset="-120"/>
              </a:rPr>
              <a:t>Interactive fulfillment analysis tool I built and shipped to production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I have worked all three sides of this problem</a:t>
            </a:r>
            <a:endParaRPr lang="en-US" sz="34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400" dirty="0">
                <a:solidFill>
                  <a:srgbClr val="9AA0AC"/>
                </a:solidFill>
                <a:latin typeface="Calibri" pitchFamily="34" charset="0"/>
                <a:ea typeface="Calibri" pitchFamily="34" charset="-122"/>
                <a:cs typeface="Calibri" pitchFamily="34" charset="-120"/>
              </a:rPr>
              <a:t>Advertiser, publisher, and now the buyer who owns the revenue</a:t>
            </a:r>
            <a:endParaRPr lang="en-US" sz="1400" dirty="0"/>
          </a:p>
        </p:txBody>
      </p:sp>
      <p:sp>
        <p:nvSpPr>
          <p:cNvPr id="4" name="Shape 2"/>
          <p:cNvSpPr/>
          <p:nvPr/>
        </p:nvSpPr>
        <p:spPr>
          <a:xfrm>
            <a:off x="640080" y="1874520"/>
            <a:ext cx="3063240" cy="4160520"/>
          </a:xfrm>
          <a:prstGeom prst="roundRect">
            <a:avLst>
              <a:gd name="adj" fmla="val 2388"/>
            </a:avLst>
          </a:prstGeom>
          <a:solidFill>
            <a:srgbClr val="191B21"/>
          </a:solidFill>
          <a:ln w="12700">
            <a:solidFill>
              <a:srgbClr val="2A2D36"/>
            </a:solidFill>
            <a:prstDash val="solid"/>
          </a:ln>
        </p:spPr>
        <p:txBody>
          <a:bodyPr/>
          <a:lstStyle/>
          <a:p>
            <a:endParaRPr lang="en-US"/>
          </a:p>
        </p:txBody>
      </p:sp>
      <p:sp>
        <p:nvSpPr>
          <p:cNvPr id="5" name="Text 3"/>
          <p:cNvSpPr/>
          <p:nvPr/>
        </p:nvSpPr>
        <p:spPr>
          <a:xfrm>
            <a:off x="914400" y="2148840"/>
            <a:ext cx="2560320" cy="274320"/>
          </a:xfrm>
          <a:prstGeom prst="rect">
            <a:avLst/>
          </a:prstGeom>
          <a:noFill/>
          <a:ln/>
        </p:spPr>
        <p:txBody>
          <a:bodyPr wrap="square" lIns="0" tIns="0" rIns="0" bIns="0" rtlCol="0" anchor="ctr"/>
          <a:lstStyle/>
          <a:p>
            <a:pPr marL="0" indent="0">
              <a:buNone/>
            </a:pPr>
            <a:r>
              <a:rPr lang="en-US" sz="1000" b="1" kern="0" spc="200" dirty="0">
                <a:solidFill>
                  <a:srgbClr val="4DA3FF"/>
                </a:solidFill>
                <a:latin typeface="Calibri" pitchFamily="34" charset="0"/>
                <a:ea typeface="Calibri" pitchFamily="34" charset="-122"/>
                <a:cs typeface="Calibri" pitchFamily="34" charset="-120"/>
              </a:rPr>
              <a:t>SELL SIDE</a:t>
            </a:r>
            <a:endParaRPr lang="en-US" sz="1000" dirty="0"/>
          </a:p>
        </p:txBody>
      </p:sp>
      <p:sp>
        <p:nvSpPr>
          <p:cNvPr id="6" name="Text 4"/>
          <p:cNvSpPr/>
          <p:nvPr/>
        </p:nvSpPr>
        <p:spPr>
          <a:xfrm>
            <a:off x="914400" y="2468880"/>
            <a:ext cx="256032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Yahoo, advertisers</a:t>
            </a:r>
            <a:endParaRPr lang="en-US" sz="1700" dirty="0"/>
          </a:p>
        </p:txBody>
      </p:sp>
      <p:sp>
        <p:nvSpPr>
          <p:cNvPr id="7" name="Text 5"/>
          <p:cNvSpPr/>
          <p:nvPr/>
        </p:nvSpPr>
        <p:spPr>
          <a:xfrm>
            <a:off x="914400" y="2971800"/>
            <a:ext cx="2560320" cy="283464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Owned campaign reporting for the Creative Strategists and Account Managers running advertiser accounts. Pacing against monthly allowance, daily spend rate, click through and conversion, video completion, keyword level cost per click.</a:t>
            </a:r>
            <a:endParaRPr lang="en-US" sz="1250" dirty="0"/>
          </a:p>
        </p:txBody>
      </p:sp>
      <p:sp>
        <p:nvSpPr>
          <p:cNvPr id="8" name="Shape 6"/>
          <p:cNvSpPr/>
          <p:nvPr/>
        </p:nvSpPr>
        <p:spPr>
          <a:xfrm>
            <a:off x="4572000" y="1874520"/>
            <a:ext cx="3063240" cy="4160520"/>
          </a:xfrm>
          <a:prstGeom prst="roundRect">
            <a:avLst>
              <a:gd name="adj" fmla="val 2388"/>
            </a:avLst>
          </a:prstGeom>
          <a:solidFill>
            <a:srgbClr val="191B21"/>
          </a:solidFill>
          <a:ln w="12700">
            <a:solidFill>
              <a:srgbClr val="2A2D36"/>
            </a:solidFill>
            <a:prstDash val="solid"/>
          </a:ln>
        </p:spPr>
        <p:txBody>
          <a:bodyPr/>
          <a:lstStyle/>
          <a:p>
            <a:endParaRPr lang="en-US"/>
          </a:p>
        </p:txBody>
      </p:sp>
      <p:sp>
        <p:nvSpPr>
          <p:cNvPr id="9" name="Text 7"/>
          <p:cNvSpPr/>
          <p:nvPr/>
        </p:nvSpPr>
        <p:spPr>
          <a:xfrm>
            <a:off x="4846320" y="2148840"/>
            <a:ext cx="2560320" cy="274320"/>
          </a:xfrm>
          <a:prstGeom prst="rect">
            <a:avLst/>
          </a:prstGeom>
          <a:noFill/>
          <a:ln/>
        </p:spPr>
        <p:txBody>
          <a:bodyPr wrap="square" lIns="0" tIns="0" rIns="0" bIns="0" rtlCol="0" anchor="ctr"/>
          <a:lstStyle/>
          <a:p>
            <a:pPr marL="0" indent="0">
              <a:buNone/>
            </a:pPr>
            <a:r>
              <a:rPr lang="en-US" sz="1000" b="1" kern="0" spc="200" dirty="0">
                <a:solidFill>
                  <a:srgbClr val="3DD68C"/>
                </a:solidFill>
                <a:latin typeface="Calibri" pitchFamily="34" charset="0"/>
                <a:ea typeface="Calibri" pitchFamily="34" charset="-122"/>
                <a:cs typeface="Calibri" pitchFamily="34" charset="-120"/>
              </a:rPr>
              <a:t>SUPPLY SIDE</a:t>
            </a:r>
            <a:endParaRPr lang="en-US" sz="1000" dirty="0"/>
          </a:p>
        </p:txBody>
      </p:sp>
      <p:sp>
        <p:nvSpPr>
          <p:cNvPr id="10" name="Text 8"/>
          <p:cNvSpPr/>
          <p:nvPr/>
        </p:nvSpPr>
        <p:spPr>
          <a:xfrm>
            <a:off x="4846320" y="2468880"/>
            <a:ext cx="256032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Yahoo, publishers</a:t>
            </a:r>
            <a:endParaRPr lang="en-US" sz="1700" dirty="0"/>
          </a:p>
        </p:txBody>
      </p:sp>
      <p:sp>
        <p:nvSpPr>
          <p:cNvPr id="11" name="Text 9"/>
          <p:cNvSpPr/>
          <p:nvPr/>
        </p:nvSpPr>
        <p:spPr>
          <a:xfrm>
            <a:off x="4846320" y="2971800"/>
            <a:ext cx="2560320" cy="283464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Built the publisher side of the same reporting for network partners including WebMD and Mozilla. Two audiences, one set of models, neither side seeing the other.</a:t>
            </a:r>
            <a:endParaRPr lang="en-US" sz="1250" dirty="0"/>
          </a:p>
        </p:txBody>
      </p:sp>
      <p:sp>
        <p:nvSpPr>
          <p:cNvPr id="12" name="Shape 10"/>
          <p:cNvSpPr/>
          <p:nvPr/>
        </p:nvSpPr>
        <p:spPr>
          <a:xfrm>
            <a:off x="8503920" y="1874520"/>
            <a:ext cx="3063240" cy="4160520"/>
          </a:xfrm>
          <a:prstGeom prst="roundRect">
            <a:avLst>
              <a:gd name="adj" fmla="val 2388"/>
            </a:avLst>
          </a:prstGeom>
          <a:solidFill>
            <a:srgbClr val="191B21"/>
          </a:solidFill>
          <a:ln w="12700">
            <a:solidFill>
              <a:srgbClr val="2A2D36"/>
            </a:solidFill>
            <a:prstDash val="solid"/>
          </a:ln>
        </p:spPr>
        <p:txBody>
          <a:bodyPr/>
          <a:lstStyle/>
          <a:p>
            <a:endParaRPr lang="en-US"/>
          </a:p>
        </p:txBody>
      </p:sp>
      <p:sp>
        <p:nvSpPr>
          <p:cNvPr id="13" name="Text 11"/>
          <p:cNvSpPr/>
          <p:nvPr/>
        </p:nvSpPr>
        <p:spPr>
          <a:xfrm>
            <a:off x="8778240" y="2148840"/>
            <a:ext cx="2560320" cy="274320"/>
          </a:xfrm>
          <a:prstGeom prst="rect">
            <a:avLst/>
          </a:prstGeom>
          <a:noFill/>
          <a:ln/>
        </p:spPr>
        <p:txBody>
          <a:bodyPr wrap="square" lIns="0" tIns="0" rIns="0" bIns="0" rtlCol="0" anchor="ctr"/>
          <a:lstStyle/>
          <a:p>
            <a:pPr marL="0" indent="0">
              <a:buNone/>
            </a:pPr>
            <a:r>
              <a:rPr lang="en-US" sz="1000" b="1" kern="0" spc="200" dirty="0">
                <a:solidFill>
                  <a:srgbClr val="E50914"/>
                </a:solidFill>
                <a:latin typeface="Calibri" pitchFamily="34" charset="0"/>
                <a:ea typeface="Calibri" pitchFamily="34" charset="-122"/>
                <a:cs typeface="Calibri" pitchFamily="34" charset="-120"/>
              </a:rPr>
              <a:t>BUY SIDE</a:t>
            </a:r>
            <a:endParaRPr lang="en-US" sz="1000" dirty="0"/>
          </a:p>
        </p:txBody>
      </p:sp>
      <p:sp>
        <p:nvSpPr>
          <p:cNvPr id="14" name="Text 12"/>
          <p:cNvSpPr/>
          <p:nvPr/>
        </p:nvSpPr>
        <p:spPr>
          <a:xfrm>
            <a:off x="8778240" y="2468880"/>
            <a:ext cx="256032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Where Netflix sits</a:t>
            </a:r>
            <a:endParaRPr lang="en-US" sz="1700" dirty="0"/>
          </a:p>
        </p:txBody>
      </p:sp>
      <p:sp>
        <p:nvSpPr>
          <p:cNvPr id="15" name="Text 13"/>
          <p:cNvSpPr/>
          <p:nvPr/>
        </p:nvSpPr>
        <p:spPr>
          <a:xfrm>
            <a:off x="8778240" y="2971800"/>
            <a:ext cx="2560320" cy="283464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On the sell side we could show advertisers everything except what the campaign actually earned them. Netflix buys the campaigns and owns the sales data, so that loop can finally close.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 I build</a:t>
            </a:r>
            <a:endParaRPr lang="en-US" sz="34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400" dirty="0">
                <a:solidFill>
                  <a:srgbClr val="9AA0AC"/>
                </a:solidFill>
                <a:latin typeface="Calibri" pitchFamily="34" charset="0"/>
                <a:ea typeface="Calibri" pitchFamily="34" charset="-122"/>
                <a:cs typeface="Calibri" pitchFamily="34" charset="-120"/>
              </a:rPr>
              <a:t>Tools people use to decide something, not charts they screenshot</a:t>
            </a:r>
            <a:endParaRPr lang="en-US" sz="1400" dirty="0"/>
          </a:p>
        </p:txBody>
      </p:sp>
      <p:sp>
        <p:nvSpPr>
          <p:cNvPr id="4" name="Shape 2"/>
          <p:cNvSpPr/>
          <p:nvPr/>
        </p:nvSpPr>
        <p:spPr>
          <a:xfrm>
            <a:off x="640080" y="1965960"/>
            <a:ext cx="384048" cy="384048"/>
          </a:xfrm>
          <a:prstGeom prst="roundRect">
            <a:avLst>
              <a:gd name="adj" fmla="val 47619"/>
            </a:avLst>
          </a:prstGeom>
          <a:solidFill>
            <a:srgbClr val="E50914"/>
          </a:solidFill>
          <a:ln w="12700">
            <a:solidFill>
              <a:srgbClr val="E50914"/>
            </a:solidFill>
            <a:prstDash val="solid"/>
          </a:ln>
        </p:spPr>
        <p:txBody>
          <a:bodyPr/>
          <a:lstStyle/>
          <a:p>
            <a:endParaRPr lang="en-US"/>
          </a:p>
        </p:txBody>
      </p:sp>
      <p:sp>
        <p:nvSpPr>
          <p:cNvPr id="5" name="Text 3"/>
          <p:cNvSpPr/>
          <p:nvPr/>
        </p:nvSpPr>
        <p:spPr>
          <a:xfrm>
            <a:off x="640080"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929384"/>
            <a:ext cx="36576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Models as the source of truth</a:t>
            </a:r>
            <a:endParaRPr lang="en-US" sz="1700" dirty="0"/>
          </a:p>
        </p:txBody>
      </p:sp>
      <p:sp>
        <p:nvSpPr>
          <p:cNvPr id="7" name="Text 5"/>
          <p:cNvSpPr/>
          <p:nvPr/>
        </p:nvSpPr>
        <p:spPr>
          <a:xfrm>
            <a:off x="5029200" y="1892808"/>
            <a:ext cx="6492240" cy="96012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Dimensional, normalized, and metadata driven models built as reusable entities that many downstream products share. Schemas that survive platform migrations.</a:t>
            </a:r>
            <a:endParaRPr lang="en-US" sz="1250" dirty="0"/>
          </a:p>
        </p:txBody>
      </p:sp>
      <p:sp>
        <p:nvSpPr>
          <p:cNvPr id="8" name="Shape 6"/>
          <p:cNvSpPr/>
          <p:nvPr/>
        </p:nvSpPr>
        <p:spPr>
          <a:xfrm>
            <a:off x="640080" y="3063240"/>
            <a:ext cx="384048" cy="384048"/>
          </a:xfrm>
          <a:prstGeom prst="roundRect">
            <a:avLst>
              <a:gd name="adj" fmla="val 47619"/>
            </a:avLst>
          </a:prstGeom>
          <a:solidFill>
            <a:srgbClr val="E50914"/>
          </a:solidFill>
          <a:ln w="12700">
            <a:solidFill>
              <a:srgbClr val="E50914"/>
            </a:solidFill>
            <a:prstDash val="solid"/>
          </a:ln>
        </p:spPr>
        <p:txBody>
          <a:bodyPr/>
          <a:lstStyle/>
          <a:p>
            <a:endParaRPr lang="en-US"/>
          </a:p>
        </p:txBody>
      </p:sp>
      <p:sp>
        <p:nvSpPr>
          <p:cNvPr id="9" name="Text 7"/>
          <p:cNvSpPr/>
          <p:nvPr/>
        </p:nvSpPr>
        <p:spPr>
          <a:xfrm>
            <a:off x="640080" y="30632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3026664"/>
            <a:ext cx="36576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Self service that holds up</a:t>
            </a:r>
            <a:endParaRPr lang="en-US" sz="1700" dirty="0"/>
          </a:p>
        </p:txBody>
      </p:sp>
      <p:sp>
        <p:nvSpPr>
          <p:cNvPr id="11" name="Text 9"/>
          <p:cNvSpPr/>
          <p:nvPr/>
        </p:nvSpPr>
        <p:spPr>
          <a:xfrm>
            <a:off x="5029200" y="2990088"/>
            <a:ext cx="6492240" cy="96012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Interactive applications with drill down, on demand comparison, and metric definitions surfaced in the interface, so nobody has to ask what a column means. Adoption is the measure I care about.</a:t>
            </a:r>
            <a:endParaRPr lang="en-US" sz="1250" dirty="0"/>
          </a:p>
        </p:txBody>
      </p:sp>
      <p:sp>
        <p:nvSpPr>
          <p:cNvPr id="12" name="Shape 10"/>
          <p:cNvSpPr/>
          <p:nvPr/>
        </p:nvSpPr>
        <p:spPr>
          <a:xfrm>
            <a:off x="640080" y="4160520"/>
            <a:ext cx="384048" cy="384048"/>
          </a:xfrm>
          <a:prstGeom prst="roundRect">
            <a:avLst>
              <a:gd name="adj" fmla="val 47619"/>
            </a:avLst>
          </a:prstGeom>
          <a:solidFill>
            <a:srgbClr val="E50914"/>
          </a:solidFill>
          <a:ln w="12700">
            <a:solidFill>
              <a:srgbClr val="E50914"/>
            </a:solidFill>
            <a:prstDash val="solid"/>
          </a:ln>
        </p:spPr>
        <p:txBody>
          <a:bodyPr/>
          <a:lstStyle/>
          <a:p>
            <a:endParaRPr lang="en-US"/>
          </a:p>
        </p:txBody>
      </p:sp>
      <p:sp>
        <p:nvSpPr>
          <p:cNvPr id="13" name="Text 11"/>
          <p:cNvSpPr/>
          <p:nvPr/>
        </p:nvSpPr>
        <p:spPr>
          <a:xfrm>
            <a:off x="640080"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4123944"/>
            <a:ext cx="36576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Engineering around the data</a:t>
            </a:r>
            <a:endParaRPr lang="en-US" sz="1700" dirty="0"/>
          </a:p>
        </p:txBody>
      </p:sp>
      <p:sp>
        <p:nvSpPr>
          <p:cNvPr id="15" name="Text 13"/>
          <p:cNvSpPr/>
          <p:nvPr/>
        </p:nvSpPr>
        <p:spPr>
          <a:xfrm>
            <a:off x="5029200" y="4087368"/>
            <a:ext cx="6492240" cy="96012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Version control, monitoring for freshness and platform health, idempotent loads, watermark based incremental extraction, and capture that repairs itself when jobs overlap.</a:t>
            </a:r>
            <a:endParaRPr lang="en-US" sz="1250" dirty="0"/>
          </a:p>
        </p:txBody>
      </p:sp>
      <p:sp>
        <p:nvSpPr>
          <p:cNvPr id="16" name="Shape 14"/>
          <p:cNvSpPr/>
          <p:nvPr/>
        </p:nvSpPr>
        <p:spPr>
          <a:xfrm>
            <a:off x="640080" y="5257800"/>
            <a:ext cx="384048" cy="384048"/>
          </a:xfrm>
          <a:prstGeom prst="roundRect">
            <a:avLst>
              <a:gd name="adj" fmla="val 47619"/>
            </a:avLst>
          </a:prstGeom>
          <a:solidFill>
            <a:srgbClr val="E50914"/>
          </a:solidFill>
          <a:ln w="12700">
            <a:solidFill>
              <a:srgbClr val="E50914"/>
            </a:solidFill>
            <a:prstDash val="solid"/>
          </a:ln>
        </p:spPr>
        <p:txBody>
          <a:bodyPr/>
          <a:lstStyle/>
          <a:p>
            <a:endParaRPr lang="en-US"/>
          </a:p>
        </p:txBody>
      </p:sp>
      <p:sp>
        <p:nvSpPr>
          <p:cNvPr id="17" name="Text 15"/>
          <p:cNvSpPr/>
          <p:nvPr/>
        </p:nvSpPr>
        <p:spPr>
          <a:xfrm>
            <a:off x="640080" y="52578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5221224"/>
            <a:ext cx="36576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Speed over perfection</a:t>
            </a:r>
            <a:endParaRPr lang="en-US" sz="1700" dirty="0"/>
          </a:p>
        </p:txBody>
      </p:sp>
      <p:sp>
        <p:nvSpPr>
          <p:cNvPr id="19" name="Text 17"/>
          <p:cNvSpPr/>
          <p:nvPr/>
        </p:nvSpPr>
        <p:spPr>
          <a:xfrm>
            <a:off x="5029200" y="5184648"/>
            <a:ext cx="6492240" cy="960120"/>
          </a:xfrm>
          <a:prstGeom prst="rect">
            <a:avLst/>
          </a:prstGeom>
          <a:noFill/>
          <a:ln/>
        </p:spPr>
        <p:txBody>
          <a:bodyPr wrap="square" lIns="0" tIns="0" rIns="0" bIns="0" rtlCol="0" anchor="t"/>
          <a:lstStyle/>
          <a:p>
            <a:pPr marL="0" indent="0">
              <a:lnSpc>
                <a:spcPts val="1800"/>
              </a:lnSpc>
              <a:buNone/>
            </a:pPr>
            <a:r>
              <a:rPr lang="en-US" sz="1250" dirty="0">
                <a:solidFill>
                  <a:srgbClr val="9AA0AC"/>
                </a:solidFill>
                <a:latin typeface="Calibri" pitchFamily="34" charset="0"/>
                <a:ea typeface="Calibri" pitchFamily="34" charset="-122"/>
                <a:cs typeface="Calibri" pitchFamily="34" charset="-120"/>
              </a:rPr>
              <a:t>I ship the version that answers the question this week and improve it next week. My archive framework, hourly demand pipeline, and recovery model all reached production while the alternative was still being scoped.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Split Orders</a:t>
            </a:r>
            <a:endParaRPr lang="en-US" sz="34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400" dirty="0">
                <a:solidFill>
                  <a:srgbClr val="9AA0AC"/>
                </a:solidFill>
                <a:latin typeface="Calibri" pitchFamily="34" charset="0"/>
                <a:ea typeface="Calibri" pitchFamily="34" charset="-122"/>
                <a:cs typeface="Calibri" pitchFamily="34" charset="-120"/>
              </a:rPr>
              <a:t>A single file interactive tool, built and running in production</a:t>
            </a:r>
            <a:endParaRPr lang="en-US" sz="1400" dirty="0"/>
          </a:p>
        </p:txBody>
      </p:sp>
      <p:pic>
        <p:nvPicPr>
          <p:cNvPr id="4" name="Image 0" descr="/home/claude/hero_indexed.png">
            <a:hlinkClick r:id="rId3" tooltip="Open the live dashboard"/>
          </p:cNvPr>
          <p:cNvPicPr>
            <a:picLocks noChangeAspect="1"/>
          </p:cNvPicPr>
          <p:nvPr/>
        </p:nvPicPr>
        <p:blipFill>
          <a:blip r:embed="rId4"/>
          <a:stretch>
            <a:fillRect/>
          </a:stretch>
        </p:blipFill>
        <p:spPr>
          <a:xfrm>
            <a:off x="640080" y="1783080"/>
            <a:ext cx="10881360" cy="3986784"/>
          </a:xfrm>
          <a:prstGeom prst="rect">
            <a:avLst/>
          </a:prstGeom>
          <a:effectLst>
            <a:outerShdw blurRad="228600" dist="38100" dir="5400000" algn="bl" rotWithShape="0">
              <a:srgbClr val="000000">
                <a:alpha val="50000"/>
              </a:srgbClr>
            </a:outerShdw>
          </a:effectLst>
        </p:spPr>
      </p:pic>
      <p:sp>
        <p:nvSpPr>
          <p:cNvPr id="5" name="Text 2"/>
          <p:cNvSpPr/>
          <p:nvPr/>
        </p:nvSpPr>
        <p:spPr>
          <a:xfrm>
            <a:off x="640080" y="5870448"/>
            <a:ext cx="10881360" cy="274320"/>
          </a:xfrm>
          <a:prstGeom prst="rect">
            <a:avLst/>
          </a:prstGeom>
          <a:noFill/>
          <a:ln/>
        </p:spPr>
        <p:txBody>
          <a:bodyPr wrap="square" lIns="0" tIns="0" rIns="0" bIns="0" rtlCol="0" anchor="ctr"/>
          <a:lstStyle/>
          <a:p>
            <a:pPr marL="0" indent="0">
              <a:buNone/>
            </a:pPr>
            <a:r>
              <a:rPr lang="en-US" sz="1100" dirty="0">
                <a:solidFill>
                  <a:srgbClr val="9AA0AC"/>
                </a:solidFill>
                <a:latin typeface="Calibri" pitchFamily="34" charset="0"/>
                <a:ea typeface="Calibri" pitchFamily="34" charset="-122"/>
                <a:cs typeface="Calibri" pitchFamily="34" charset="-120"/>
              </a:rPr>
              <a:t>Five switchable views  ·  drill down on any row  ·  definitions on hover  ·  the in progress period shaded so an unfinished month is never read as a decline</a:t>
            </a:r>
            <a:endParaRPr lang="en-US" sz="1100" dirty="0"/>
          </a:p>
        </p:txBody>
      </p:sp>
      <p:sp>
        <p:nvSpPr>
          <p:cNvPr id="6" name="Text 3"/>
          <p:cNvSpPr/>
          <p:nvPr/>
        </p:nvSpPr>
        <p:spPr>
          <a:xfrm>
            <a:off x="640080" y="6172200"/>
            <a:ext cx="10881360" cy="274320"/>
          </a:xfrm>
          <a:prstGeom prst="rect">
            <a:avLst/>
          </a:prstGeom>
          <a:noFill/>
          <a:ln/>
        </p:spPr>
        <p:txBody>
          <a:bodyPr wrap="square" lIns="0" tIns="0" rIns="0" bIns="0" rtlCol="0" anchor="ctr"/>
          <a:lstStyle/>
          <a:p>
            <a:pPr marL="0" indent="0">
              <a:buNone/>
            </a:pPr>
            <a:r>
              <a:rPr lang="en-US" sz="1100" dirty="0">
                <a:solidFill>
                  <a:srgbClr val="9AA0AC"/>
                </a:solidFill>
                <a:latin typeface="Calibri" pitchFamily="34" charset="0"/>
                <a:ea typeface="Calibri" pitchFamily="34" charset="-122"/>
                <a:cs typeface="Calibri" pitchFamily="34" charset="-120"/>
              </a:rPr>
              <a:t>Click the image, or open it live: </a:t>
            </a:r>
            <a:r>
              <a:rPr lang="en-US" sz="1100" u="sng" dirty="0">
                <a:solidFill>
                  <a:srgbClr val="4DA3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wowagner2015.github.io/professionalprofile/split-orders.html</a:t>
            </a:r>
            <a:endParaRPr lang="en-US" sz="1100" dirty="0"/>
          </a:p>
        </p:txBody>
      </p:sp>
      <p:sp>
        <p:nvSpPr>
          <p:cNvPr id="7" name="Text 4"/>
          <p:cNvSpPr/>
          <p:nvPr/>
        </p:nvSpPr>
        <p:spPr>
          <a:xfrm>
            <a:off x="640080" y="6446520"/>
            <a:ext cx="1088136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Volumes scaled by a constant for sharing. Rates and trends unchanged.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engineering underneath</a:t>
            </a:r>
            <a:endParaRPr lang="en-US" sz="34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400" dirty="0">
                <a:solidFill>
                  <a:srgbClr val="9AA0AC"/>
                </a:solidFill>
                <a:latin typeface="Calibri" pitchFamily="34" charset="0"/>
                <a:ea typeface="Calibri" pitchFamily="34" charset="-122"/>
                <a:cs typeface="Calibri" pitchFamily="34" charset="-120"/>
              </a:rPr>
              <a:t>Three things I built at PacSun that were not on anyone’s roadmap</a:t>
            </a:r>
            <a:endParaRPr lang="en-US" sz="1400" dirty="0"/>
          </a:p>
        </p:txBody>
      </p:sp>
      <p:sp>
        <p:nvSpPr>
          <p:cNvPr id="4" name="Shape 2"/>
          <p:cNvSpPr/>
          <p:nvPr/>
        </p:nvSpPr>
        <p:spPr>
          <a:xfrm>
            <a:off x="640080" y="1874520"/>
            <a:ext cx="3566160" cy="4069080"/>
          </a:xfrm>
          <a:prstGeom prst="roundRect">
            <a:avLst>
              <a:gd name="adj" fmla="val 2051"/>
            </a:avLst>
          </a:prstGeom>
          <a:solidFill>
            <a:srgbClr val="191B21"/>
          </a:solidFill>
          <a:ln w="12700">
            <a:solidFill>
              <a:srgbClr val="2A2D36"/>
            </a:solidFill>
            <a:prstDash val="solid"/>
          </a:ln>
        </p:spPr>
        <p:txBody>
          <a:bodyPr/>
          <a:lstStyle/>
          <a:p>
            <a:endParaRPr lang="en-US"/>
          </a:p>
        </p:txBody>
      </p:sp>
      <p:sp>
        <p:nvSpPr>
          <p:cNvPr id="5" name="Text 3"/>
          <p:cNvSpPr/>
          <p:nvPr/>
        </p:nvSpPr>
        <p:spPr>
          <a:xfrm>
            <a:off x="914400" y="2103120"/>
            <a:ext cx="301752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 time machine for data</a:t>
            </a:r>
            <a:endParaRPr lang="en-US" sz="1700" dirty="0"/>
          </a:p>
        </p:txBody>
      </p:sp>
      <p:sp>
        <p:nvSpPr>
          <p:cNvPr id="6" name="Text 4"/>
          <p:cNvSpPr/>
          <p:nvPr/>
        </p:nvSpPr>
        <p:spPr>
          <a:xfrm>
            <a:off x="914400" y="2788920"/>
            <a:ext cx="3017520" cy="2926080"/>
          </a:xfrm>
          <a:prstGeom prst="rect">
            <a:avLst/>
          </a:prstGeom>
          <a:noFill/>
          <a:ln/>
        </p:spPr>
        <p:txBody>
          <a:bodyPr wrap="square" lIns="0" tIns="0" rIns="0" bIns="0" rtlCol="0" anchor="t"/>
          <a:lstStyle/>
          <a:p>
            <a:pPr marL="0" indent="0">
              <a:lnSpc>
                <a:spcPts val="1700"/>
              </a:lnSpc>
              <a:buNone/>
            </a:pPr>
            <a:r>
              <a:rPr lang="en-US" sz="1200" dirty="0">
                <a:solidFill>
                  <a:srgbClr val="9AA0AC"/>
                </a:solidFill>
                <a:latin typeface="Calibri" pitchFamily="34" charset="0"/>
                <a:ea typeface="Calibri" pitchFamily="34" charset="-122"/>
                <a:cs typeface="Calibri" pitchFamily="34" charset="-120"/>
              </a:rPr>
              <a:t>Source tables are overwritten continuously and native time travel keeps only days. I built a generic archive any table can join with one procedure call and a retention setting. It snapshots only on change, repairs itself when two jobs overlap, and returns data in the original layout.</a:t>
            </a:r>
            <a:endParaRPr lang="en-US" sz="1200" dirty="0"/>
          </a:p>
        </p:txBody>
      </p:sp>
      <p:sp>
        <p:nvSpPr>
          <p:cNvPr id="7" name="Shape 5"/>
          <p:cNvSpPr/>
          <p:nvPr/>
        </p:nvSpPr>
        <p:spPr>
          <a:xfrm>
            <a:off x="4553712" y="1874520"/>
            <a:ext cx="3566160" cy="4069080"/>
          </a:xfrm>
          <a:prstGeom prst="roundRect">
            <a:avLst>
              <a:gd name="adj" fmla="val 2051"/>
            </a:avLst>
          </a:prstGeom>
          <a:solidFill>
            <a:srgbClr val="191B21"/>
          </a:solidFill>
          <a:ln w="12700">
            <a:solidFill>
              <a:srgbClr val="2A2D36"/>
            </a:solidFill>
            <a:prstDash val="solid"/>
          </a:ln>
        </p:spPr>
        <p:txBody>
          <a:bodyPr/>
          <a:lstStyle/>
          <a:p>
            <a:endParaRPr lang="en-US"/>
          </a:p>
        </p:txBody>
      </p:sp>
      <p:sp>
        <p:nvSpPr>
          <p:cNvPr id="8" name="Text 6"/>
          <p:cNvSpPr/>
          <p:nvPr/>
        </p:nvSpPr>
        <p:spPr>
          <a:xfrm>
            <a:off x="4828032" y="2103120"/>
            <a:ext cx="301752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Reports honest about failure</a:t>
            </a:r>
            <a:endParaRPr lang="en-US" sz="1700" dirty="0"/>
          </a:p>
        </p:txBody>
      </p:sp>
      <p:sp>
        <p:nvSpPr>
          <p:cNvPr id="9" name="Text 7"/>
          <p:cNvSpPr/>
          <p:nvPr/>
        </p:nvSpPr>
        <p:spPr>
          <a:xfrm>
            <a:off x="4828032" y="2788920"/>
            <a:ext cx="3017520" cy="2926080"/>
          </a:xfrm>
          <a:prstGeom prst="rect">
            <a:avLst/>
          </a:prstGeom>
          <a:noFill/>
          <a:ln/>
        </p:spPr>
        <p:txBody>
          <a:bodyPr wrap="square" lIns="0" tIns="0" rIns="0" bIns="0" rtlCol="0" anchor="t"/>
          <a:lstStyle/>
          <a:p>
            <a:pPr marL="0" indent="0">
              <a:lnSpc>
                <a:spcPts val="1700"/>
              </a:lnSpc>
              <a:buNone/>
            </a:pPr>
            <a:r>
              <a:rPr lang="en-US" sz="1200" dirty="0">
                <a:solidFill>
                  <a:srgbClr val="9AA0AC"/>
                </a:solidFill>
                <a:latin typeface="Calibri" pitchFamily="34" charset="0"/>
                <a:ea typeface="Calibri" pitchFamily="34" charset="-122"/>
                <a:cs typeface="Calibri" pitchFamily="34" charset="-120"/>
              </a:rPr>
              <a:t>A four tier recovery model reconstructs a missing hour from the best surviving source and labels every recovered value with its origin, so leadership sees a complete report and knows exactly which numbers were rebuilt.</a:t>
            </a:r>
            <a:endParaRPr lang="en-US" sz="1200" dirty="0"/>
          </a:p>
        </p:txBody>
      </p:sp>
      <p:sp>
        <p:nvSpPr>
          <p:cNvPr id="10" name="Shape 8"/>
          <p:cNvSpPr/>
          <p:nvPr/>
        </p:nvSpPr>
        <p:spPr>
          <a:xfrm>
            <a:off x="8467344" y="1874520"/>
            <a:ext cx="3566160" cy="4069080"/>
          </a:xfrm>
          <a:prstGeom prst="roundRect">
            <a:avLst>
              <a:gd name="adj" fmla="val 2051"/>
            </a:avLst>
          </a:prstGeom>
          <a:solidFill>
            <a:srgbClr val="191B21"/>
          </a:solidFill>
          <a:ln w="12700">
            <a:solidFill>
              <a:srgbClr val="2A2D36"/>
            </a:solidFill>
            <a:prstDash val="solid"/>
          </a:ln>
        </p:spPr>
        <p:txBody>
          <a:bodyPr/>
          <a:lstStyle/>
          <a:p>
            <a:endParaRPr lang="en-US"/>
          </a:p>
        </p:txBody>
      </p:sp>
      <p:sp>
        <p:nvSpPr>
          <p:cNvPr id="11" name="Text 9"/>
          <p:cNvSpPr/>
          <p:nvPr/>
        </p:nvSpPr>
        <p:spPr>
          <a:xfrm>
            <a:off x="8741664" y="2103120"/>
            <a:ext cx="301752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DataGINI</a:t>
            </a:r>
            <a:endParaRPr lang="en-US" sz="1700" dirty="0"/>
          </a:p>
        </p:txBody>
      </p:sp>
      <p:sp>
        <p:nvSpPr>
          <p:cNvPr id="12" name="Text 10"/>
          <p:cNvSpPr/>
          <p:nvPr/>
        </p:nvSpPr>
        <p:spPr>
          <a:xfrm>
            <a:off x="8741664" y="2788920"/>
            <a:ext cx="3017520" cy="2926080"/>
          </a:xfrm>
          <a:prstGeom prst="rect">
            <a:avLst/>
          </a:prstGeom>
          <a:noFill/>
          <a:ln/>
        </p:spPr>
        <p:txBody>
          <a:bodyPr wrap="square" lIns="0" tIns="0" rIns="0" bIns="0" rtlCol="0" anchor="t"/>
          <a:lstStyle/>
          <a:p>
            <a:pPr marL="0" indent="0">
              <a:lnSpc>
                <a:spcPts val="1700"/>
              </a:lnSpc>
              <a:buNone/>
            </a:pPr>
            <a:r>
              <a:rPr lang="en-US" sz="1200" dirty="0">
                <a:solidFill>
                  <a:srgbClr val="9AA0AC"/>
                </a:solidFill>
                <a:latin typeface="Calibri" pitchFamily="34" charset="0"/>
                <a:ea typeface="Calibri" pitchFamily="34" charset="-122"/>
                <a:cs typeface="Calibri" pitchFamily="34" charset="-120"/>
              </a:rPr>
              <a:t>My own ingest and orchestration framework, roughly 10,000 lines of Python, sole author. Declarative YAML catalog, connectors rather than engine edits, parameter inheritance across job groups. Runs in production against ERP, commerce, loyalty, and legacy systems.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Track record</a:t>
            </a:r>
            <a:endParaRPr lang="en-US" sz="3400" dirty="0"/>
          </a:p>
        </p:txBody>
      </p:sp>
      <p:sp>
        <p:nvSpPr>
          <p:cNvPr id="3" name="Text 1"/>
          <p:cNvSpPr/>
          <p:nvPr/>
        </p:nvSpPr>
        <p:spPr>
          <a:xfrm>
            <a:off x="640080" y="2148840"/>
            <a:ext cx="2651760" cy="914400"/>
          </a:xfrm>
          <a:prstGeom prst="rect">
            <a:avLst/>
          </a:prstGeom>
          <a:noFill/>
          <a:ln/>
        </p:spPr>
        <p:txBody>
          <a:bodyPr wrap="square" lIns="0" tIns="0" rIns="0" bIns="0" rtlCol="0" anchor="ctr"/>
          <a:lstStyle/>
          <a:p>
            <a:pPr marL="0" indent="0">
              <a:buNone/>
            </a:pPr>
            <a:r>
              <a:rPr lang="en-US" sz="5400" b="1" dirty="0">
                <a:solidFill>
                  <a:srgbClr val="E50914"/>
                </a:solidFill>
                <a:latin typeface="Cambria" pitchFamily="34" charset="0"/>
                <a:ea typeface="Cambria" pitchFamily="34" charset="-122"/>
                <a:cs typeface="Cambria" pitchFamily="34" charset="-120"/>
              </a:rPr>
              <a:t>25+</a:t>
            </a:r>
            <a:endParaRPr lang="en-US" sz="5400" dirty="0"/>
          </a:p>
        </p:txBody>
      </p:sp>
      <p:sp>
        <p:nvSpPr>
          <p:cNvPr id="4" name="Text 2"/>
          <p:cNvSpPr/>
          <p:nvPr/>
        </p:nvSpPr>
        <p:spPr>
          <a:xfrm>
            <a:off x="640080" y="3154680"/>
            <a:ext cx="2651760" cy="822960"/>
          </a:xfrm>
          <a:prstGeom prst="rect">
            <a:avLst/>
          </a:prstGeom>
          <a:noFill/>
          <a:ln/>
        </p:spPr>
        <p:txBody>
          <a:bodyPr wrap="square" lIns="0" tIns="0" rIns="0" bIns="0" rtlCol="0" anchor="ctr"/>
          <a:lstStyle/>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years modeling data for</a:t>
            </a:r>
            <a:endParaRPr lang="en-US" sz="1250" dirty="0"/>
          </a:p>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operational decisions</a:t>
            </a:r>
            <a:endParaRPr lang="en-US" sz="1250" dirty="0"/>
          </a:p>
        </p:txBody>
      </p:sp>
      <p:sp>
        <p:nvSpPr>
          <p:cNvPr id="5" name="Text 3"/>
          <p:cNvSpPr/>
          <p:nvPr/>
        </p:nvSpPr>
        <p:spPr>
          <a:xfrm>
            <a:off x="3520440" y="2148840"/>
            <a:ext cx="2651760" cy="914400"/>
          </a:xfrm>
          <a:prstGeom prst="rect">
            <a:avLst/>
          </a:prstGeom>
          <a:noFill/>
          <a:ln/>
        </p:spPr>
        <p:txBody>
          <a:bodyPr wrap="square" lIns="0" tIns="0" rIns="0" bIns="0" rtlCol="0" anchor="ctr"/>
          <a:lstStyle/>
          <a:p>
            <a:pPr marL="0" indent="0">
              <a:buNone/>
            </a:pPr>
            <a:r>
              <a:rPr lang="en-US" sz="5400" b="1" dirty="0">
                <a:solidFill>
                  <a:srgbClr val="E50914"/>
                </a:solidFill>
                <a:latin typeface="Cambria" pitchFamily="34" charset="0"/>
                <a:ea typeface="Cambria" pitchFamily="34" charset="-122"/>
                <a:cs typeface="Cambria" pitchFamily="34" charset="-120"/>
              </a:rPr>
              <a:t>4</a:t>
            </a:r>
            <a:endParaRPr lang="en-US" sz="5400" dirty="0"/>
          </a:p>
        </p:txBody>
      </p:sp>
      <p:sp>
        <p:nvSpPr>
          <p:cNvPr id="6" name="Text 4"/>
          <p:cNvSpPr/>
          <p:nvPr/>
        </p:nvSpPr>
        <p:spPr>
          <a:xfrm>
            <a:off x="3520440" y="3154680"/>
            <a:ext cx="2651760" cy="822960"/>
          </a:xfrm>
          <a:prstGeom prst="rect">
            <a:avLst/>
          </a:prstGeom>
          <a:noFill/>
          <a:ln/>
        </p:spPr>
        <p:txBody>
          <a:bodyPr wrap="square" lIns="0" tIns="0" rIns="0" bIns="0" rtlCol="0" anchor="ctr"/>
          <a:lstStyle/>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patents as named inventor,</a:t>
            </a:r>
            <a:endParaRPr lang="en-US" sz="1250" dirty="0"/>
          </a:p>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two issued</a:t>
            </a:r>
            <a:endParaRPr lang="en-US" sz="1250" dirty="0"/>
          </a:p>
        </p:txBody>
      </p:sp>
      <p:sp>
        <p:nvSpPr>
          <p:cNvPr id="7" name="Text 5"/>
          <p:cNvSpPr/>
          <p:nvPr/>
        </p:nvSpPr>
        <p:spPr>
          <a:xfrm>
            <a:off x="6400800" y="2148840"/>
            <a:ext cx="2651760" cy="914400"/>
          </a:xfrm>
          <a:prstGeom prst="rect">
            <a:avLst/>
          </a:prstGeom>
          <a:noFill/>
          <a:ln/>
        </p:spPr>
        <p:txBody>
          <a:bodyPr wrap="square" lIns="0" tIns="0" rIns="0" bIns="0" rtlCol="0" anchor="ctr"/>
          <a:lstStyle/>
          <a:p>
            <a:pPr marL="0" indent="0">
              <a:buNone/>
            </a:pPr>
            <a:r>
              <a:rPr lang="en-US" sz="5400" b="1" dirty="0">
                <a:solidFill>
                  <a:srgbClr val="E50914"/>
                </a:solidFill>
                <a:latin typeface="Cambria" pitchFamily="34" charset="0"/>
                <a:ea typeface="Cambria" pitchFamily="34" charset="-122"/>
                <a:cs typeface="Cambria" pitchFamily="34" charset="-120"/>
              </a:rPr>
              <a:t>1,000+</a:t>
            </a:r>
            <a:endParaRPr lang="en-US" sz="5400" dirty="0"/>
          </a:p>
        </p:txBody>
      </p:sp>
      <p:sp>
        <p:nvSpPr>
          <p:cNvPr id="8" name="Text 6"/>
          <p:cNvSpPr/>
          <p:nvPr/>
        </p:nvSpPr>
        <p:spPr>
          <a:xfrm>
            <a:off x="6400800" y="3154680"/>
            <a:ext cx="2651760" cy="822960"/>
          </a:xfrm>
          <a:prstGeom prst="rect">
            <a:avLst/>
          </a:prstGeom>
          <a:noFill/>
          <a:ln/>
        </p:spPr>
        <p:txBody>
          <a:bodyPr wrap="square" lIns="0" tIns="0" rIns="0" bIns="0" rtlCol="0" anchor="ctr"/>
          <a:lstStyle/>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users on an analytics platform</a:t>
            </a:r>
            <a:endParaRPr lang="en-US" sz="1250" dirty="0"/>
          </a:p>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I consolidated and governed</a:t>
            </a:r>
            <a:endParaRPr lang="en-US" sz="1250" dirty="0"/>
          </a:p>
        </p:txBody>
      </p:sp>
      <p:sp>
        <p:nvSpPr>
          <p:cNvPr id="9" name="Text 7"/>
          <p:cNvSpPr/>
          <p:nvPr/>
        </p:nvSpPr>
        <p:spPr>
          <a:xfrm>
            <a:off x="9281160" y="2148840"/>
            <a:ext cx="2651760" cy="914400"/>
          </a:xfrm>
          <a:prstGeom prst="rect">
            <a:avLst/>
          </a:prstGeom>
          <a:noFill/>
          <a:ln/>
        </p:spPr>
        <p:txBody>
          <a:bodyPr wrap="square" lIns="0" tIns="0" rIns="0" bIns="0" rtlCol="0" anchor="ctr"/>
          <a:lstStyle/>
          <a:p>
            <a:pPr marL="0" indent="0">
              <a:buNone/>
            </a:pPr>
            <a:r>
              <a:rPr lang="en-US" sz="5400" b="1" dirty="0">
                <a:solidFill>
                  <a:srgbClr val="E50914"/>
                </a:solidFill>
                <a:latin typeface="Cambria" pitchFamily="34" charset="0"/>
                <a:ea typeface="Cambria" pitchFamily="34" charset="-122"/>
                <a:cs typeface="Cambria" pitchFamily="34" charset="-120"/>
              </a:rPr>
              <a:t>8</a:t>
            </a:r>
            <a:endParaRPr lang="en-US" sz="5400" dirty="0"/>
          </a:p>
        </p:txBody>
      </p:sp>
      <p:sp>
        <p:nvSpPr>
          <p:cNvPr id="10" name="Text 8"/>
          <p:cNvSpPr/>
          <p:nvPr/>
        </p:nvSpPr>
        <p:spPr>
          <a:xfrm>
            <a:off x="9281160" y="3154680"/>
            <a:ext cx="2651760" cy="822960"/>
          </a:xfrm>
          <a:prstGeom prst="rect">
            <a:avLst/>
          </a:prstGeom>
          <a:noFill/>
          <a:ln/>
        </p:spPr>
        <p:txBody>
          <a:bodyPr wrap="square" lIns="0" tIns="0" rIns="0" bIns="0" rtlCol="0" anchor="ctr"/>
          <a:lstStyle/>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years inside the ad marketplace</a:t>
            </a:r>
            <a:endParaRPr lang="en-US" sz="1250" dirty="0"/>
          </a:p>
          <a:p>
            <a:pPr marL="0" indent="0">
              <a:lnSpc>
                <a:spcPts val="1700"/>
              </a:lnSpc>
              <a:buNone/>
            </a:pPr>
            <a:r>
              <a:rPr lang="en-US" sz="1250" dirty="0">
                <a:solidFill>
                  <a:srgbClr val="9AA0AC"/>
                </a:solidFill>
                <a:latin typeface="Calibri" pitchFamily="34" charset="0"/>
                <a:ea typeface="Calibri" pitchFamily="34" charset="-122"/>
                <a:cs typeface="Calibri" pitchFamily="34" charset="-120"/>
              </a:rPr>
              <a:t>at Yahoo</a:t>
            </a:r>
            <a:endParaRPr lang="en-US" sz="1250" dirty="0"/>
          </a:p>
        </p:txBody>
      </p:sp>
      <p:sp>
        <p:nvSpPr>
          <p:cNvPr id="11" name="Shape 9"/>
          <p:cNvSpPr/>
          <p:nvPr/>
        </p:nvSpPr>
        <p:spPr>
          <a:xfrm>
            <a:off x="640080" y="4480560"/>
            <a:ext cx="10881360" cy="1508760"/>
          </a:xfrm>
          <a:prstGeom prst="roundRect">
            <a:avLst>
              <a:gd name="adj" fmla="val 4848"/>
            </a:avLst>
          </a:prstGeom>
          <a:solidFill>
            <a:srgbClr val="191B21"/>
          </a:solidFill>
          <a:ln w="12700">
            <a:solidFill>
              <a:srgbClr val="2A2D36"/>
            </a:solidFill>
            <a:prstDash val="solid"/>
          </a:ln>
        </p:spPr>
        <p:txBody>
          <a:bodyPr/>
          <a:lstStyle/>
          <a:p>
            <a:endParaRPr lang="en-US"/>
          </a:p>
        </p:txBody>
      </p:sp>
      <p:sp>
        <p:nvSpPr>
          <p:cNvPr id="12" name="Text 10"/>
          <p:cNvSpPr/>
          <p:nvPr/>
        </p:nvSpPr>
        <p:spPr>
          <a:xfrm>
            <a:off x="960120" y="4709160"/>
            <a:ext cx="1024128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Named Yahoo Inventor of the Year, 2024</a:t>
            </a:r>
            <a:endParaRPr lang="en-US" sz="1600" dirty="0"/>
          </a:p>
        </p:txBody>
      </p:sp>
      <p:sp>
        <p:nvSpPr>
          <p:cNvPr id="13" name="Text 11"/>
          <p:cNvSpPr/>
          <p:nvPr/>
        </p:nvSpPr>
        <p:spPr>
          <a:xfrm>
            <a:off x="960120" y="5102352"/>
            <a:ext cx="10241280" cy="640080"/>
          </a:xfrm>
          <a:prstGeom prst="rect">
            <a:avLst/>
          </a:prstGeom>
          <a:noFill/>
          <a:ln/>
        </p:spPr>
        <p:txBody>
          <a:bodyPr wrap="square" lIns="0" tIns="0" rIns="0" bIns="0" rtlCol="0" anchor="ctr"/>
          <a:lstStyle/>
          <a:p>
            <a:pPr marL="0" indent="0">
              <a:lnSpc>
                <a:spcPts val="1600"/>
              </a:lnSpc>
              <a:buNone/>
            </a:pPr>
            <a:r>
              <a:rPr lang="en-US" sz="1200" dirty="0">
                <a:solidFill>
                  <a:srgbClr val="9AA0AC"/>
                </a:solidFill>
                <a:latin typeface="Calibri" pitchFamily="34" charset="0"/>
                <a:ea typeface="Calibri" pitchFamily="34" charset="-122"/>
                <a:cs typeface="Calibri" pitchFamily="34" charset="-120"/>
              </a:rPr>
              <a:t>The award came from the Future Study Group, a volunteer group of inventors who did the work because we cared about the technology and the users, not because anyone assigned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822960" y="1600200"/>
            <a:ext cx="10515600" cy="548640"/>
          </a:xfrm>
          <a:prstGeom prst="rect">
            <a:avLst/>
          </a:prstGeom>
          <a:noFill/>
          <a:ln/>
        </p:spPr>
        <p:txBody>
          <a:bodyPr wrap="square" lIns="0" tIns="0" rIns="0" bIns="0" rtlCol="0" anchor="ctr"/>
          <a:lstStyle/>
          <a:p>
            <a:pPr marL="0" indent="0">
              <a:buNone/>
            </a:pPr>
            <a:r>
              <a:rPr lang="en-US" sz="1300" kern="0" spc="200" dirty="0">
                <a:solidFill>
                  <a:srgbClr val="E50914"/>
                </a:solidFill>
                <a:latin typeface="Calibri" pitchFamily="34" charset="0"/>
                <a:ea typeface="Calibri" pitchFamily="34" charset="-122"/>
                <a:cs typeface="Calibri" pitchFamily="34" charset="-120"/>
              </a:rPr>
              <a:t>The problem I want to work on</a:t>
            </a:r>
            <a:endParaRPr lang="en-US" sz="1300" dirty="0"/>
          </a:p>
        </p:txBody>
      </p:sp>
      <p:sp>
        <p:nvSpPr>
          <p:cNvPr id="3" name="Text 1"/>
          <p:cNvSpPr/>
          <p:nvPr/>
        </p:nvSpPr>
        <p:spPr>
          <a:xfrm>
            <a:off x="822960" y="2103120"/>
            <a:ext cx="9875520" cy="1463040"/>
          </a:xfrm>
          <a:prstGeom prst="rect">
            <a:avLst/>
          </a:prstGeom>
          <a:noFill/>
          <a:ln/>
        </p:spPr>
        <p:txBody>
          <a:bodyPr wrap="square" lIns="0" tIns="0" rIns="0" bIns="0" rtlCol="0" anchor="ct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Campaign spend and the revenue it produced, in one model, close to real time.</a:t>
            </a:r>
            <a:endParaRPr lang="en-US" sz="3600" dirty="0"/>
          </a:p>
        </p:txBody>
      </p:sp>
      <p:sp>
        <p:nvSpPr>
          <p:cNvPr id="4" name="Text 2"/>
          <p:cNvSpPr/>
          <p:nvPr/>
        </p:nvSpPr>
        <p:spPr>
          <a:xfrm>
            <a:off x="822960" y="3931920"/>
            <a:ext cx="9875520" cy="2011680"/>
          </a:xfrm>
          <a:prstGeom prst="rect">
            <a:avLst/>
          </a:prstGeom>
          <a:noFill/>
          <a:ln/>
        </p:spPr>
        <p:txBody>
          <a:bodyPr wrap="square" lIns="0" tIns="0" rIns="0" bIns="0" rtlCol="0" anchor="ctr"/>
          <a:lstStyle/>
          <a:p>
            <a:pPr marL="0" indent="0">
              <a:lnSpc>
                <a:spcPts val="2500"/>
              </a:lnSpc>
              <a:buNone/>
            </a:pPr>
            <a:r>
              <a:rPr lang="en-US" sz="1500" dirty="0">
                <a:solidFill>
                  <a:srgbClr val="9AA0AC"/>
                </a:solidFill>
                <a:latin typeface="Calibri" pitchFamily="34" charset="0"/>
                <a:ea typeface="Calibri" pitchFamily="34" charset="-122"/>
                <a:cs typeface="Calibri" pitchFamily="34" charset="-120"/>
              </a:rPr>
              <a:t>At Yahoo we could show an advertiser every measure except the one they cared about most, which was what the campaign earned them. That number lived on the other side of a wall. Netflix sits on both sides: the campaign goes out and the demand comes back. Since campaigns launch exactly when the lift is needed, watching that loop next to demand rather than reading about it weeks later is the work I would most want to own.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3"/>
        </a:solidFill>
        <a:effectLst/>
      </p:bgPr>
    </p:bg>
    <p:spTree>
      <p:nvGrpSpPr>
        <p:cNvPr id="1" name=""/>
        <p:cNvGrpSpPr/>
        <p:nvPr/>
      </p:nvGrpSpPr>
      <p:grpSpPr>
        <a:xfrm>
          <a:off x="0" y="0"/>
          <a:ext cx="0" cy="0"/>
          <a:chOff x="0" y="0"/>
          <a:chExt cx="0" cy="0"/>
        </a:xfrm>
      </p:grpSpPr>
      <p:sp>
        <p:nvSpPr>
          <p:cNvPr id="2" name="Text 0"/>
          <p:cNvSpPr/>
          <p:nvPr/>
        </p:nvSpPr>
        <p:spPr>
          <a:xfrm>
            <a:off x="822960" y="2514600"/>
            <a:ext cx="7315200" cy="6400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Will Wagner</a:t>
            </a:r>
            <a:endParaRPr lang="en-US" sz="3800" dirty="0"/>
          </a:p>
        </p:txBody>
      </p:sp>
      <p:sp>
        <p:nvSpPr>
          <p:cNvPr id="3" name="Text 1"/>
          <p:cNvSpPr/>
          <p:nvPr/>
        </p:nvSpPr>
        <p:spPr>
          <a:xfrm>
            <a:off x="822960" y="3291840"/>
            <a:ext cx="8229600" cy="365760"/>
          </a:xfrm>
          <a:prstGeom prst="rect">
            <a:avLst/>
          </a:prstGeom>
          <a:noFill/>
          <a:ln/>
        </p:spPr>
        <p:txBody>
          <a:bodyPr wrap="square" lIns="0" tIns="0" rIns="0" bIns="0" rtlCol="0" anchor="ctr"/>
          <a:lstStyle/>
          <a:p>
            <a:pPr marL="0" indent="0">
              <a:buNone/>
            </a:pPr>
            <a:r>
              <a:rPr lang="en-US" sz="1500" dirty="0">
                <a:solidFill>
                  <a:srgbClr val="9AA0AC"/>
                </a:solidFill>
                <a:latin typeface="Calibri" pitchFamily="34" charset="0"/>
                <a:ea typeface="Calibri" pitchFamily="34" charset="-122"/>
                <a:cs typeface="Calibri" pitchFamily="34" charset="-120"/>
              </a:rPr>
              <a:t>will@heximind.com   ·   (310) 270-5533   ·   Costa Mesa, California</a:t>
            </a:r>
            <a:endParaRPr lang="en-US" sz="1500" dirty="0"/>
          </a:p>
        </p:txBody>
      </p:sp>
      <p:sp>
        <p:nvSpPr>
          <p:cNvPr id="4" name="Text 2"/>
          <p:cNvSpPr/>
          <p:nvPr/>
        </p:nvSpPr>
        <p:spPr>
          <a:xfrm>
            <a:off x="822960" y="3931920"/>
            <a:ext cx="7315200" cy="1280160"/>
          </a:xfrm>
          <a:prstGeom prst="rect">
            <a:avLst/>
          </a:prstGeom>
          <a:noFill/>
          <a:ln/>
        </p:spPr>
        <p:txBody>
          <a:bodyPr wrap="square" lIns="0" tIns="0" rIns="0" bIns="0" rtlCol="0" anchor="ctr"/>
          <a:lstStyle/>
          <a:p>
            <a:pPr marL="0" indent="0">
              <a:lnSpc>
                <a:spcPts val="2200"/>
              </a:lnSpc>
              <a:buNone/>
            </a:pPr>
            <a:r>
              <a:rPr lang="en-US" sz="1300" u="sng" dirty="0">
                <a:solidFill>
                  <a:srgbClr val="4DA3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linkedin.com/in/willwwagner</a:t>
            </a:r>
            <a:endParaRPr lang="en-US" sz="1300" dirty="0"/>
          </a:p>
          <a:p>
            <a:pPr marL="0" indent="0">
              <a:lnSpc>
                <a:spcPts val="2200"/>
              </a:lnSpc>
              <a:buNone/>
            </a:pPr>
            <a:r>
              <a:rPr lang="en-US" sz="1300" u="sng" dirty="0">
                <a:solidFill>
                  <a:srgbClr val="4DA3F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github.com/wowagner2015</a:t>
            </a:r>
            <a:endParaRPr lang="en-US" sz="1300" dirty="0"/>
          </a:p>
          <a:p>
            <a:pPr marL="0" indent="0">
              <a:lnSpc>
                <a:spcPts val="2200"/>
              </a:lnSpc>
              <a:buNone/>
            </a:pPr>
            <a:r>
              <a:rPr lang="en-US" sz="1300" u="sng" dirty="0">
                <a:solidFill>
                  <a:srgbClr val="4DA3F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wowagner2015.github.io/professionalprofile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941</Words>
  <Application>Microsoft Office PowerPoint</Application>
  <PresentationFormat>Widescreen</PresentationFormat>
  <Paragraphs>82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Will Wagner</cp:lastModifiedBy>
  <cp:revision>1</cp:revision>
  <dcterms:created xsi:type="dcterms:W3CDTF">2026-08-17T08:08:33Z</dcterms:created>
  <dcterms:modified xsi:type="dcterms:W3CDTF">2026-08-17T08:11:17Z</dcterms:modified>
</cp:coreProperties>
</file>